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50" d="100"/>
          <a:sy n="50" d="100"/>
        </p:scale>
        <p:origin x="1906" y="7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B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14400" y="1463040"/>
            <a:ext cx="103601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4846320"/>
            <a:ext cx="103601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Calibri"/>
              </a:rPr>
              <a:t>UNIVERSITY OF SCIENCE AND TECHNOLOGY · ZEWAIL 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 Light"/>
              </a:rPr>
              <a:t>MLE Estimation &amp; Estimator Distribution
in Linear Regression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992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7D2FE"/>
                </a:solidFill>
                <a:latin typeface="Calibri"/>
              </a:rPr>
              <a:t>CIE 457 — Statistical Inference and Data Analysis ·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616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Ibrahim Hanafy  202200518        Mai Ibrahim  202200504        Mohamed Alaa  202100905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233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Instructor: Dr. Mahmoud Abdelaziz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Outline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320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CIE 457  ·  MLE in Linear Regression  ·  Zewail City  ·  Spring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115568"/>
            <a:ext cx="5394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71016"/>
            <a:ext cx="347472" cy="34747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289304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§1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1289304"/>
            <a:ext cx="47914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The Linear Model &amp; MLE–OLS Equivalence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1115568"/>
            <a:ext cx="5394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1271016"/>
            <a:ext cx="347472" cy="34747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89320" y="1289304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§2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1289304"/>
            <a:ext cx="47914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Distribution of β̂  — Analytical Derivation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002536"/>
            <a:ext cx="5394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0040" y="2157984"/>
            <a:ext cx="347472" cy="34747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" y="2176272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§3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2176272"/>
            <a:ext cx="47914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Part 1: Monte Carlo Validation (Homoscedastic)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97880" y="2002536"/>
            <a:ext cx="5394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989320" y="2157984"/>
            <a:ext cx="347472" cy="34747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89320" y="2176272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§4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2176272"/>
            <a:ext cx="47914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Part 2: Heteroscedasticity — OLS vs. WLS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2889504"/>
            <a:ext cx="5394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0040" y="3044952"/>
            <a:ext cx="347472" cy="34747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3063240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§5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" y="3063240"/>
            <a:ext cx="47914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Part 3: Confidence &amp; Prediction Intervals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97880" y="2889504"/>
            <a:ext cx="5394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989320" y="3044952"/>
            <a:ext cx="347472" cy="34747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89320" y="3063240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§6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944" y="3063240"/>
            <a:ext cx="47914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EDA — Advertising Dataset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3776472"/>
            <a:ext cx="5394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3931920"/>
            <a:ext cx="347472" cy="34747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" y="3950208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§7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3950208"/>
            <a:ext cx="47914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Part 4: Real-Data Heteroscedasticity Detection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97880" y="3776472"/>
            <a:ext cx="5394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989320" y="3931920"/>
            <a:ext cx="347472" cy="34747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989320" y="3950208"/>
            <a:ext cx="347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§8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9944" y="3950208"/>
            <a:ext cx="47914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Cramér–Rao Bound &amp; UMVUE (Bonus)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B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83464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920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Calibri Light"/>
              </a:rPr>
              <a:t>§ 1 — The Linear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71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7D2FE"/>
                </a:solidFill>
                <a:latin typeface="Calibri"/>
              </a:rPr>
              <a:t>Gaussian noise  ·  OLS as MLE  ·  The estimator as a random variable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The Linear Regression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320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CIE 457  ·  MLE in Linear Regression  ·  Zewail City  ·  Spring 2026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43000"/>
            <a:ext cx="4057650" cy="638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1964055"/>
            <a:ext cx="11612880" cy="329184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2028063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Symbol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2028063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Dimension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22191" y="2028063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Role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293239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" y="2357247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y  (vector)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2357247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n ×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2191" y="2357247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Observed response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613279"/>
            <a:ext cx="11612880" cy="32004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7472" y="2677287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X  (matrix)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93392" y="2677287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n × 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2191" y="2677287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Design matrix — treated as fixed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933319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" y="2997327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β  (vector)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93392" y="2997327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p ×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22191" y="2997327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True unknown coefficient vector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253359"/>
            <a:ext cx="11612880" cy="32004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" y="3317367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ε  (vector)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93392" y="3317367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n ×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22191" y="3317367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Additive noise — sole source of randomness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573399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7472" y="3637407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σ²  (scalar)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93392" y="3637407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2191" y="3637407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Common noise variance (homoscedastic)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2636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Key assumption: every observation shares the same noise variance σ². Relaxing this assumption leads to the heteroscedastic model analysed in Part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Why OLS Equals MLE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320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CIE 457  ·  MLE in Linear Regression  ·  Zewail City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972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Under Gaussian noise, the log-likelihood of β given data y is: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08760"/>
            <a:ext cx="4457700" cy="6762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2322195"/>
            <a:ext cx="11612880" cy="86868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2322195"/>
            <a:ext cx="41148" cy="86868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2395347"/>
            <a:ext cx="11475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Observation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633091"/>
            <a:ext cx="114757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Maximising ℓ(β) over β is equivalent to minimising
‖y − Xβ‖²  — the ordinary least-squares criterion.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328035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Setting ∇_β ℓ = 0 yields the Normal Equations: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739515"/>
            <a:ext cx="5753100" cy="61912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74320" y="4541520"/>
            <a:ext cx="11612880" cy="86868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4320" y="4541520"/>
            <a:ext cx="41148" cy="8686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4614672"/>
            <a:ext cx="11475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  <a:latin typeface="Calibri"/>
              </a:rPr>
              <a:t>Conclusion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852416"/>
            <a:ext cx="114757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OLS is not merely a geometric trick — it is the Maximum Likelihood Estimator
under i.i.d. Gaussian errors. For non-Gaussian noise, MLE and OLS diverge.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Distribution of β̂_OLS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320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CIE 457  ·  MLE in Linear Regression  ·  Zewail City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972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Substitute  y = Xβ + ε  into the closed-form solution: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848350" cy="609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2255520"/>
            <a:ext cx="5577840" cy="123444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2255520"/>
            <a:ext cx="41148" cy="1234440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232867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3"/>
                </a:solidFill>
                <a:latin typeface="Calibri"/>
              </a:rPr>
              <a:t>Unbiasedness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66416"/>
            <a:ext cx="5440680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E[β̂] = β + (X'X)⁻¹X' · E[ε]
Since E[ε] = 0,  we get  E[β̂] = β
→  OLS is an unbiased estimator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2255520"/>
            <a:ext cx="5577840" cy="123444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89320" y="2255520"/>
            <a:ext cx="41148" cy="1234440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80760" y="232867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3"/>
                </a:solidFill>
                <a:latin typeface="Calibri"/>
              </a:rPr>
              <a:t>Covariance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566416"/>
            <a:ext cx="5440680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Cov(β̂) = (X'X)⁻¹X' · σ²I · X(X'X)⁻¹
        = σ²(X'X)⁻¹
Controls spread of estimates across datasets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627120"/>
            <a:ext cx="11612880" cy="6858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74320" y="3627120"/>
            <a:ext cx="41148" cy="6858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3700272"/>
            <a:ext cx="11475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  <a:latin typeface="Calibri"/>
              </a:rPr>
              <a:t>Central Theorem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938016"/>
            <a:ext cx="11475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Since β̂ is a linear function of Gaussian ε,  and linear maps preserve Gaussianity: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4404360"/>
            <a:ext cx="4210050" cy="6953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B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83464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84C"/>
                </a:solidFill>
                <a:latin typeface="Calibri Light"/>
              </a:rPr>
              <a:t>§ 2 — Part 1: Monte Carlo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71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7D2FE"/>
                </a:solidFill>
                <a:latin typeface="Calibri"/>
              </a:rPr>
              <a:t>Homoscedastic Gaussian noise  ·  M = 5 000 replications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Monte Carlo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94944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  <a:latin typeface="Calibri"/>
              </a:rPr>
              <a:t>Part 1 — Homoscedastic noise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88952" cy="320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CIE 457  ·  MLE in Linear Regression  ·  Zewail City  ·  Spring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57784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41148" cy="2286000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26187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3"/>
                </a:solidFill>
                <a:latin typeface="Calibri"/>
              </a:rPr>
              <a:t>Simulation Parameters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499616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Observations: n = 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764792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Predictors: p =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029968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True coefficients: β = [1, 2, 3]ᵀ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295144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Noise variance: σ² =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560320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Replications: M = 5 000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825496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Design matrix X: fixed across all trials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1188720"/>
            <a:ext cx="5577840" cy="169164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89320" y="1188720"/>
            <a:ext cx="41148" cy="1691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080760" y="126187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Procedure (per replication)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1499616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1. Draw ε⁽ᵐ⁾ ~ N(0, σ²I)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764792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2. Compute y⁽ᵐ⁾ = Xβ + ε⁽ᵐ⁾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029968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3. Estimate β̂⁽ᵐ⁾ = (X'X)⁻¹X'y⁽ᵐ⁾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295144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4. Collect β̂⁽ᵐ⁾ for m = 1, …, 5 000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2999232"/>
            <a:ext cx="5577840" cy="841248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989320" y="2999232"/>
            <a:ext cx="41148" cy="84124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80760" y="3072384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  <a:latin typeface="Calibri"/>
              </a:rPr>
              <a:t>Expected Result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3310128"/>
            <a:ext cx="5440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Empirical distribution of each β̂ⱼ should match:
N( βⱼ ,  σ² [(X'X)⁻¹]ⱼⱼ 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Empirical vs. Theoretical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94944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  <a:latin typeface="Calibri"/>
              </a:rPr>
              <a:t>Part 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88952" cy="320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CIE 457  ·  MLE in Linear Regression  ·  Zewail City  ·  Spring 2026</a:t>
            </a:r>
          </a:p>
        </p:txBody>
      </p:sp>
      <p:pic>
        <p:nvPicPr>
          <p:cNvPr id="7" name="Picture 6" descr="homo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651760"/>
            <a:ext cx="1051560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89520" y="1097280"/>
            <a:ext cx="4297680" cy="141732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589520" y="1097280"/>
            <a:ext cx="41148" cy="141732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0" y="1170432"/>
            <a:ext cx="4160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  <a:latin typeface="Calibri"/>
              </a:rPr>
              <a:t>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408176"/>
            <a:ext cx="4160520" cy="103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Empirical histograms (blue) align precisely with theoretical Gaussians (orange dashed).
Vertical dotted line = true βⱼ. Confirms: β̂_OLS ~ N(β, σ²(X'X)⁻¹).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Figure 1. Histograms of β̂₁, β̂₂, β̂₃ over M = 5 000 replications vs. theoretical Gaussian (orange). True β marked by dotted vertical 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B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83464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84C"/>
                </a:solidFill>
                <a:latin typeface="Calibri Light"/>
              </a:rPr>
              <a:t>§ 3 — Part 2: Heteroscedasticity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71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7D2FE"/>
                </a:solidFill>
                <a:latin typeface="Calibri"/>
              </a:rPr>
              <a:t>OLS inefficiency  ·  Weighted Least Squares  ·  Variance comparison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Heteroscedastic Noise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94944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  <a:latin typeface="Calibri"/>
              </a:rPr>
              <a:t>Part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88952" cy="320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CIE 457  ·  MLE in Linear Regression  ·  Zewail City  ·  Spring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97280"/>
            <a:ext cx="11612880" cy="7498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41148" cy="74980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170432"/>
            <a:ext cx="11475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91C1C"/>
                </a:solidFill>
                <a:latin typeface="Calibri"/>
              </a:rPr>
              <a:t>Relaxed Assumption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08176"/>
            <a:ext cx="11475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Each observation has its own noise variance:  ε ~ N(0, Σ),  Σ = diag(σ₁², …, σₙ²)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993392"/>
            <a:ext cx="5577840" cy="18288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993392"/>
            <a:ext cx="41148" cy="1828800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2066544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3"/>
                </a:solidFill>
                <a:latin typeface="Calibri"/>
              </a:rPr>
              <a:t>OLS under Heteroscedastic Noise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304288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β̂_OLS = (X'X)⁻¹X'y  (formula unchanged)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569464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Still unbiased:  E[β̂] = 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834640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Cov(β̂_OLS) = (X'X)⁻¹X'ΣX(X'X)⁻¹  (sandwich)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099816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INEFFICIENT — variance larger than necessary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1993392"/>
            <a:ext cx="5577840" cy="18288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989320" y="1993392"/>
            <a:ext cx="41148" cy="18288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80760" y="2066544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  <a:latin typeface="Calibri"/>
              </a:rPr>
              <a:t>WLS — Correct MLE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304288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β̂_WLS = (X'Σ⁻¹X)⁻¹X'Σ⁻¹y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569464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Weight wᵢ = 1/σᵢ²  (down-weights noisy obs.)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2834640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Cov(β̂_WLS) = (X'Σ⁻¹X)⁻¹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099816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EFFICIENT — achieves Cramér–Rao bound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77639"/>
            <a:ext cx="4067175" cy="619125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274320" y="4688204"/>
            <a:ext cx="11612880" cy="841248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4320" y="4688204"/>
            <a:ext cx="41148" cy="8412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5760" y="4761356"/>
            <a:ext cx="11475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Gauss–Markov Corollary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999100"/>
            <a:ext cx="11475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OLS is BLUE (Best Linear Unbiased Estimator) only under homoscedasticity.
Under heteroscedasticity, WLS is the BLUE — OLS is still unbiased but no longer best.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OLS vs. WLS — Sampling Distributions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94944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  <a:latin typeface="Calibri"/>
              </a:rPr>
              <a:t>Part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88952" cy="320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CIE 457  ·  MLE in Linear Regression  ·  Zewail City  ·  Spring 2026</a:t>
            </a:r>
          </a:p>
        </p:txBody>
      </p:sp>
      <p:pic>
        <p:nvPicPr>
          <p:cNvPr id="7" name="Picture 6" descr="hetero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908292" cy="4754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89520" y="1097280"/>
            <a:ext cx="4297680" cy="1600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589520" y="1097280"/>
            <a:ext cx="41148" cy="1600200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0" y="1170432"/>
            <a:ext cx="4160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3"/>
                </a:solidFill>
                <a:latin typeface="Calibri"/>
              </a:rPr>
              <a:t>Observation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408176"/>
            <a:ext cx="41605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Both OLS (blue) and WLS (red) centred at true β — both unbiased.
WLS distribution is narrower — lower variance — more efficient.
The width gap is the cost of ignoring heteroscedasticity.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Figure 2. Empirical distributions of β̂_OLS (blue) and β̂_WLS (red) over M = 5 000 trials under heteroscedastic noise. Both centred at true β; WLS is narrower.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Variance Comparison: OLS vs. WLS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94944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  <a:latin typeface="Calibri"/>
              </a:rPr>
              <a:t>Part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88952" cy="320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CIE 457  ·  MLE in Linear Regression  ·  Zewail City  ·  Spring 2026</a:t>
            </a:r>
          </a:p>
        </p:txBody>
      </p:sp>
      <p:pic>
        <p:nvPicPr>
          <p:cNvPr id="7" name="Picture 6" descr="hetero_varianc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670990" cy="4754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89520" y="1097280"/>
            <a:ext cx="4297680" cy="1600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589520" y="1097280"/>
            <a:ext cx="41148" cy="16002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0" y="1170432"/>
            <a:ext cx="4160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  <a:latin typeface="Calibri"/>
              </a:rPr>
              <a:t>Interpretation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408176"/>
            <a:ext cx="41605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For every coefficient component, the OLS bar (blue) is taller than WLS (red).
The gap = efficiency gained by using the correct probabilistic model.
Ignoring heteroscedasticity costs statistical precision — wider intervals, weaker tests.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Figure 3. Empirical variance of β̂ components for OLS (blue) and WLS (red). WLS achieves strictly lower variance across all three components.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B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83464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Calibri Light"/>
              </a:rPr>
              <a:t>§ 4 — Part 3: Confidence &amp; Prediction Intervals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71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7D2FE"/>
                </a:solidFill>
                <a:latin typeface="Calibri"/>
              </a:rPr>
              <a:t>Interval construction  ·  Coverage verification  ·  CI vs. PI distinction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Confidence &amp; Prediction Intervals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94944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  <a:latin typeface="Calibri"/>
              </a:rPr>
              <a:t>Part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88952" cy="320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CIE 457  ·  MLE in Linear Regression  ·  Zewail City  ·  Spring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97280"/>
            <a:ext cx="5577840" cy="804672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41148" cy="80467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17043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3"/>
                </a:solidFill>
                <a:latin typeface="Calibri"/>
              </a:rPr>
              <a:t>95% Confidence Interval for β̂ⱼ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08176"/>
            <a:ext cx="5440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Uncertainty source: randomness in β̂
At 95%: z₀.₀₂₅ = 1.96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3314700" cy="7239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989320" y="1097280"/>
            <a:ext cx="5577840" cy="804672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89320" y="1097280"/>
            <a:ext cx="41148" cy="804672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80760" y="117043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91C1C"/>
                </a:solidFill>
                <a:latin typeface="Calibri"/>
              </a:rPr>
              <a:t>95% Prediction Interval at x*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408176"/>
            <a:ext cx="5440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Uncertainty sources: (1) randomness in β̂,
(2) future noise ε* — irreducible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965960"/>
            <a:ext cx="4105274" cy="6858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274320" y="2918460"/>
            <a:ext cx="11612880" cy="132588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74320" y="2918460"/>
            <a:ext cx="41148" cy="132588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2991612"/>
            <a:ext cx="11475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Key Asymptotic Distinction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229356"/>
            <a:ext cx="114757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As n → ∞: CI collapses to a point  (β̂ → β exactly)
              PI width → 2 z_{α/2} σ  (future noise never disappears)
Use CI for uncertainty in the mean response.
Use PI for uncertainty about a single future observation.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Empirical CI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94944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  <a:latin typeface="Calibri"/>
              </a:rPr>
              <a:t>Part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88952" cy="320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CIE 457  ·  MLE in Linear Regression  ·  Zewail City  ·  Spring 2026</a:t>
            </a:r>
          </a:p>
        </p:txBody>
      </p:sp>
      <p:pic>
        <p:nvPicPr>
          <p:cNvPr id="7" name="Picture 6" descr="ci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1" y="1097280"/>
            <a:ext cx="7315200" cy="4754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89520" y="1097280"/>
            <a:ext cx="4297680" cy="1600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589520" y="1097280"/>
            <a:ext cx="41148" cy="1600200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0" y="1170432"/>
            <a:ext cx="4160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3"/>
                </a:solidFill>
                <a:latin typeface="Calibri"/>
              </a:rPr>
              <a:t>Frequentist Interpretation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408176"/>
            <a:ext cx="41605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If we repeat the experiment 100 times and build a 95% CI each time,
approximately 95 intervals contain the true parameter.
Green = contains true β₁.  Red = misses.  Empirical coverage ≈ 95%.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Figure 4. 95% confidence intervals for β̂₁ across 100 MC trials. Green = contains true β₁. Red = misses. Empirical coverage ≈ 95%.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CI vs. PI Width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94944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  <a:latin typeface="Calibri"/>
              </a:rPr>
              <a:t>Part 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88952" cy="320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CIE 457  ·  MLE in Linear Regression  ·  Zewail City  ·  Spring 2026</a:t>
            </a:r>
          </a:p>
        </p:txBody>
      </p:sp>
      <p:pic>
        <p:nvPicPr>
          <p:cNvPr id="7" name="Picture 6" descr="ci_vs_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9623164" cy="4754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89520" y="1097280"/>
            <a:ext cx="4297680" cy="141732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589520" y="1097280"/>
            <a:ext cx="41148" cy="141732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0" y="1170432"/>
            <a:ext cx="4160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  <a:latin typeface="Calibri"/>
              </a:rPr>
              <a:t>Key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408176"/>
            <a:ext cx="4160520" cy="103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PI (red) is uniformly wider than CI (blue).
Gap = σ² contribution from future noise ε*.
As n → ∞: CI collapses, PI → ±1.96σ.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Figure 5. 95% confidence band (blue, narrow) vs. 95% prediction band (red, wider). PI is uniformly wider due to irreducible future-observation uncertainty.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B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83464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84C"/>
                </a:solidFill>
                <a:latin typeface="Calibri Light"/>
              </a:rPr>
              <a:t>§ 5 —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71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7D2FE"/>
                </a:solidFill>
                <a:latin typeface="Calibri"/>
              </a:rPr>
              <a:t>Advertising dataset  ·  200 observations  ·  TV, Radio, Newspaper → Sales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Advertising Dataset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320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CIE 457  ·  MLE in Linear Regression  ·  Zewail City  ·  Spring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577840" cy="329184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7472" y="125272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Variable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392" y="125272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4992" y="125272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517904"/>
            <a:ext cx="55778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" y="1572768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TV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2" y="1572768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0.7 – 296.4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2" y="1572768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TV advertising budget ($000s)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837944"/>
            <a:ext cx="5577840" cy="32004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472" y="1892808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radio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93392" y="1892808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0.0 – 49.6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4992" y="1892808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Radio advertising budget ($000s)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157984"/>
            <a:ext cx="55778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7472" y="2212848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newspaper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93392" y="2212848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0.4 – 114.0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4992" y="2212848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Newspaper budget ($000s)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478024"/>
            <a:ext cx="5577840" cy="32004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7472" y="2532888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sales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93392" y="2532888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1.6 – 27.0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64992" y="2532888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Units sold (thousands)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834640"/>
            <a:ext cx="5577840" cy="804672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4320" y="2834640"/>
            <a:ext cx="41148" cy="80467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5760" y="290779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3"/>
                </a:solidFill>
                <a:latin typeface="Calibri"/>
              </a:rPr>
              <a:t>Source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3145536"/>
            <a:ext cx="5440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James et al., An Introduction to Statistical Learning (ISLR)
n = 200  ·  No missing values  ·  Continuous variables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89320" y="1188720"/>
            <a:ext cx="5577840" cy="182880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989320" y="1188720"/>
            <a:ext cx="41148" cy="1828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80760" y="126187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Key Prior Findings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1499616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TV: strongest predictor  (r ≈ 0.78)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1764792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Radio: second  (r ≈ 0.58)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2029968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Newspaper: weak  (r ≈ 0.23) — non-significant in multiple regression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2295144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TV–Sales scatter suggests heteroscedasticity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Variable Distributions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320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CIE 457  ·  MLE in Linear Regression  ·  Zewail City  ·  Spring 2026</a:t>
            </a:r>
          </a:p>
        </p:txBody>
      </p:sp>
      <p:pic>
        <p:nvPicPr>
          <p:cNvPr id="6" name="Picture 5" descr="eda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612880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Figure 6. Marginal distributions of all four variables with KDE overlay. TV is right-skewed; Sales is approximately symmetric; Newspaper has a heavy right tail.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Correlation 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320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CIE 457  ·  MLE in Linear Regression  ·  Zewail City  ·  Spring 2026</a:t>
            </a:r>
          </a:p>
        </p:txBody>
      </p:sp>
      <p:pic>
        <p:nvPicPr>
          <p:cNvPr id="6" name="Picture 5" descr="eda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523319" cy="48463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040880" y="1097280"/>
            <a:ext cx="4846320" cy="25603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040880" y="1097280"/>
            <a:ext cx="41148" cy="2560320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0" y="1170432"/>
            <a:ext cx="4709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3"/>
                </a:solidFill>
                <a:latin typeface="Calibri"/>
              </a:rPr>
              <a:t>Correlations with Sales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408176"/>
            <a:ext cx="4709160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r(TV, sales)         ≈  0.78
r(radio, sales)     ≈  0.58
r(newspaper, sales) ≈  0.23
TV dominates. Radio adds incremental value.
Newspaper's marginal correlation partly spurious
(correlated with TV/Radio).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59893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Figure 7. Pearson correlation heatmap. TV shows the strongest pairwise association with Sales.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Scatter Plots: Predictors vs. Sales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320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CIE 457  ·  MLE in Linear Regression  ·  Zewail City  ·  Spring 2026</a:t>
            </a:r>
          </a:p>
        </p:txBody>
      </p:sp>
      <p:pic>
        <p:nvPicPr>
          <p:cNvPr id="6" name="Picture 5" descr="ed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548371" cy="48463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955279" y="1097280"/>
            <a:ext cx="3931920" cy="18288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955279" y="1097280"/>
            <a:ext cx="41148" cy="18288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9" y="1170432"/>
            <a:ext cx="3794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91C1C"/>
                </a:solidFill>
                <a:latin typeface="Calibri"/>
              </a:rPr>
              <a:t>Critical Observation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1408176"/>
            <a:ext cx="379476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TV–Sales shows clear linear trend AND increasing variance.
At low TV: tight scatter. At high TV: fans out.
This funnelling is the signature of heteroscedasticity
— motivating White's test and WLS in Part 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Figure 8. Sales vs. each advertising channel. TV exhibits increasing variance — a visual cue for heteroscedasticity.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B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83464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84C"/>
                </a:solidFill>
                <a:latin typeface="Calibri Light"/>
              </a:rPr>
              <a:t>§ 6 — Part 4: Real-Data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71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7D2FE"/>
                </a:solidFill>
                <a:latin typeface="Calibri"/>
              </a:rPr>
              <a:t>Heteroscedasticity detection  ·  White's test  ·  OLS vs. WLS on Advertising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Residual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94944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  <a:latin typeface="Calibri"/>
              </a:rPr>
              <a:t>Part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88952" cy="320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CIE 457  ·  MLE in Linear Regression  ·  Zewail City  ·  Spring 2026</a:t>
            </a:r>
          </a:p>
        </p:txBody>
      </p:sp>
      <p:pic>
        <p:nvPicPr>
          <p:cNvPr id="7" name="Picture 6" descr="residual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040880" cy="4754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097280"/>
            <a:ext cx="4206240" cy="18288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680960" y="1097280"/>
            <a:ext cx="41148" cy="18288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0" y="117043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91C1C"/>
                </a:solidFill>
                <a:latin typeface="Calibri"/>
              </a:rPr>
              <a:t>Diagnosis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408176"/>
            <a:ext cx="406908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Funnel-shaped residuals vs. fitted → variance grows with fitted values.
Upward scale-location trend → confirms non-constant variance.
Q-Q plot: approximately normal errors (favourable for inference).
OLS standard errors are therefore UNRELIABLE.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Figure 9. Three-panel residual analysis. Left: residuals vs. fitted (funnel). Centre: scale-location (upward trend). Right: normal Q-Q.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Formal Test: White's Heteroscedasticity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94944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  <a:latin typeface="Calibri"/>
              </a:rPr>
              <a:t>Part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88952" cy="320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CIE 457  ·  MLE in Linear Regression  ·  Zewail City  ·  Spring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577840" cy="20116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41148" cy="2011680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21615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3"/>
                </a:solidFill>
                <a:latin typeface="Calibri"/>
              </a:rPr>
              <a:t>Why White's Test — Not Breusch–Pagan?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453896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Breusch–Pagan: regresses ε̂² on X — detects linear variance dependence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719072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White's test: augments with X², cross-products — detects nonlinear patterns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84248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TV variance grows roughly quadratically → White's test is necessary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249424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Breusch–Pagan fails to reject on this dataset; White's strongly rejects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143000"/>
            <a:ext cx="5577840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989320" y="1143000"/>
            <a:ext cx="41148" cy="9144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80760" y="121615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91C1C"/>
                </a:solidFill>
                <a:latin typeface="Calibri"/>
              </a:rPr>
              <a:t>Test Hypotheses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1453896"/>
            <a:ext cx="5440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H₀: σ₁² = σ₂² = ⋯ = σₙ²  (homoscedasticity)
H₁: at least one σᵢ² ≠ σⱼ²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2194560"/>
            <a:ext cx="5577840" cy="100584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989320" y="2194560"/>
            <a:ext cx="41148" cy="100584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80760" y="226771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  <a:latin typeface="Calibri"/>
              </a:rPr>
              <a:t>Result on Advertising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505456"/>
            <a:ext cx="5440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White's test statistic  ≫  χ²₀.₀₅, df
p-value  &lt;  0.001
→ REJECT H₀ — strong evidence of heteroscedasticity</a:t>
            </a:r>
          </a:p>
        </p:txBody>
      </p:sp>
      <p:pic>
        <p:nvPicPr>
          <p:cNvPr id="22" name="Picture 21" descr="hetero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246120"/>
            <a:ext cx="10647765" cy="2834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74320" y="61447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Figure 10. OLS squared residuals ε̂ᵢ² vs. each predictor. Positive trend with TV confirms variance grows with TV budget — nonlinear heteroscedasticity.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OLS vs. WLS Coefficients — Advertising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94944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  <a:latin typeface="Calibri"/>
              </a:rPr>
              <a:t>Part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87552"/>
            <a:ext cx="12188952" cy="320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CIE 457  ·  MLE in Linear Regression  ·  Zewail City  ·  Spring 2026</a:t>
            </a:r>
          </a:p>
        </p:txBody>
      </p:sp>
      <p:pic>
        <p:nvPicPr>
          <p:cNvPr id="7" name="Picture 6" descr="ols_vs_wls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53312"/>
            <a:ext cx="6932677" cy="4754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89520" y="1097280"/>
            <a:ext cx="4297680" cy="210312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589520" y="1097280"/>
            <a:ext cx="41148" cy="21031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0" y="1170432"/>
            <a:ext cx="4160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Interpretation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408176"/>
            <a:ext cx="416052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Coefficient estimates differ slightly between OLS and WLS.
More importantly: standard errors differ.
OLS SEs computed under false homoscedasticity assumption → UNRELIABLE.
WLS SEs correctly account for heteroscedastic structure → RELIABLE.
Using OLS SEs would produce incorrect hypothesis tests and intervals.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Figure 11. Estimated coefficients ± SE for OLS (blue) and WLS (red) on Advertising data. Error bars represent one standard error.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B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83464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84C"/>
                </a:solidFill>
                <a:latin typeface="Calibri Light"/>
              </a:rPr>
              <a:t>§ 7 — Bonus: Fisher Info &amp; CRLB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71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7D2FE"/>
                </a:solidFill>
                <a:latin typeface="Calibri"/>
              </a:rPr>
              <a:t>Cramér–Rao Lower Bound  ·  OLS as UMVUE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Fisher Information &amp; Cramér–Rao Bound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320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CIE 457  ·  MLE in Linear Regression  ·  Zewail City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15568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The Fisher information matrix quantifies the information the data carry about β: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481328"/>
            <a:ext cx="3676649" cy="762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2426208"/>
            <a:ext cx="11612880" cy="841248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2426208"/>
            <a:ext cx="41148" cy="8412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2499360"/>
            <a:ext cx="11475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Cramér–Rao Lower Bound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37104"/>
            <a:ext cx="11475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For any unbiased estimator β̃ of β:
Cov(β̃) ≥ I(β)⁻¹ = σ²(X'X)⁻¹  (in the positive semi-definite sense)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340608"/>
            <a:ext cx="4229100" cy="60007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74320" y="4123563"/>
            <a:ext cx="11612880" cy="132588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4123563"/>
            <a:ext cx="41148" cy="13258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4196715"/>
            <a:ext cx="11475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  <a:latin typeface="Calibri"/>
              </a:rPr>
              <a:t>Main Result — OLS is UMVUE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434459"/>
            <a:ext cx="114757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Cov(β̂_OLS) = σ²(X'X)⁻¹  =  I(β)⁻¹
OLS achieves the CRLB exactly.
→ No unbiased estimator of β can have smaller variance than OLS under Gaussian noise.
→ β̂_OLS is the Uniformly Minimum Variance Unbiased Estimator (UMVUE).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Summary of Main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320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CIE 457  ·  MLE in Linear Regression  ·  Zewail City  ·  Spring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11612880" cy="365760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7472" y="131673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131673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5232" y="131673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131673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00200"/>
            <a:ext cx="116128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" y="16916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Theory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16916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β̂_OLS ~ N(β, σ²(X'X)⁻¹)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85232" y="16916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Analytical derivation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9952" y="16916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9A84C"/>
                </a:solidFill>
                <a:latin typeface="Calibri"/>
              </a:rPr>
              <a:t>Proven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075688"/>
            <a:ext cx="11612880" cy="475488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7472" y="216712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Part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4752" y="216712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Empirical distribution matches theory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5232" y="216712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Monte Carlo, M = 5 000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9952" y="216712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  <a:latin typeface="Calibri"/>
              </a:rPr>
              <a:t>Confirmed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551176"/>
            <a:ext cx="116128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7472" y="264261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Part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264261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WLS more efficient than 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5232" y="264261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MC + variance comparison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59952" y="264261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  <a:latin typeface="Calibri"/>
              </a:rPr>
              <a:t>Confirmed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026664"/>
            <a:ext cx="11612880" cy="475488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7472" y="311810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4752" y="311810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95% CI achieves 95% coverage; PI &gt; CI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85232" y="311810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MC coverage 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59952" y="311810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  <a:latin typeface="Calibri"/>
              </a:rPr>
              <a:t>Confirmed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3502152"/>
            <a:ext cx="116128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47472" y="359359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Part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44752" y="359359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Advertising data heteroscedastic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5232" y="359359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White's test + residuals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59952" y="359359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  <a:latin typeface="Calibri"/>
              </a:rPr>
              <a:t>Confirmed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977640"/>
            <a:ext cx="11612880" cy="475488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7472" y="40690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Bonus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44752" y="40690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OLS achieves CRLB → UMVUE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85232" y="40690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Fisher info + MC ratio ≈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59952" y="40690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  <a:latin typeface="Calibri"/>
              </a:rPr>
              <a:t>Confirmed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Conclusions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320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CIE 457  ·  MLE in Linear Regression  ·  Zewail City  ·  Spring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577840" cy="21031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41148" cy="2103120"/>
          </a:xfrm>
          <a:prstGeom prst="rect">
            <a:avLst/>
          </a:prstGeom>
          <a:solidFill>
            <a:srgbClr val="00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26187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B73"/>
                </a:solidFill>
                <a:latin typeface="Calibri"/>
              </a:rPr>
              <a:t>Theoretical Takeaways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499616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OLS is MLE under Gaussian errors — not merely geometric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64792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β̂ inherits Gaussianity from ε via linearity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029968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Heteroscedasticity breaks OLS efficiency but not unbiasedness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295144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WLS is the correct MLE when Σ is known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560320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OLS is UMVUE — provably optimal among unbiased estimators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188720"/>
            <a:ext cx="5577840" cy="210312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989320" y="1188720"/>
            <a:ext cx="41148" cy="21031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80760" y="126187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Practical Takeaways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499616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Always run residual diagnostics before trusting 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764792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Use White's test when nonlinear variance patterns are suspected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029968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PI is always wider than CI — use the right one for the right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295144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TV budget drives most explainable variance in sales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560320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TV budget also drives the heteroscedasticity in the Advertising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429000"/>
            <a:ext cx="11612880" cy="841248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41148" cy="84124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3502152"/>
            <a:ext cx="11475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  <a:latin typeface="Calibri"/>
              </a:rPr>
              <a:t>Connecting Theory and Practice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3739896"/>
            <a:ext cx="11475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Simulation validated theorems. Real-data analysis demonstrated consequences of assumption violations.
The project bridges statistical theory and applied regression methodology.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B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651760"/>
            <a:ext cx="12188952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88952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889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7D2FE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434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Ibrahim Hanafy · Mai Ibrahim · Mohamed Alaa
CIE 457 — Statistical Inference and Data Analysis · Zewail City · Spring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2703</Words>
  <Application>Microsoft Office PowerPoint</Application>
  <PresentationFormat>Custom</PresentationFormat>
  <Paragraphs>266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Ibrahim Hany Ibrahim Eldosoky Ahmed Hanafy</cp:lastModifiedBy>
  <cp:revision>2</cp:revision>
  <dcterms:created xsi:type="dcterms:W3CDTF">2013-01-27T09:14:16Z</dcterms:created>
  <dcterms:modified xsi:type="dcterms:W3CDTF">2026-05-17T01:22:34Z</dcterms:modified>
  <cp:category/>
</cp:coreProperties>
</file>