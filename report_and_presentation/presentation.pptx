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743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Zewail City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51206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CIE 457 — Statistical Inference and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MLE Estimation and Estimator Distribution
in Linear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A comprehensive analysis of Maximum Likelihood Estimation, estimator properties,
and practical applications in statistical inference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703320"/>
            <a:ext cx="10515600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749039"/>
            <a:ext cx="10515600" cy="1417320"/>
          </a:xfrm>
          <a:prstGeom prst="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AUTHORS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7822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Ibrahim Hanafy
Mai Ibrahim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8404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INSTRUCTOR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07822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Dr. Mahmoud Abdelaziz
Statistical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8404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07822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Spring 2026
Academic Year 2025-2026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Statistical Inference &amp; Data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019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CIE 457  &gt;  Statistical Inference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Slide 2 of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1516"/>
            <a:ext cx="12188952" cy="316484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659282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CIE 457 — Statistical Inference and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92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👤  Dr. Mahmoud Abdelaziz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499616"/>
            <a:ext cx="36576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1499616"/>
            <a:ext cx="5230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Understand MLE in linear regression: Derive Maximum Likelihood Estimation principles and their application in linear regression models.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48256"/>
            <a:ext cx="36576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2048256"/>
            <a:ext cx="5230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Study estimator as random variable: Study the statistical properties and distribution of estimators.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96896"/>
            <a:ext cx="36576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2596896"/>
            <a:ext cx="5230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Contrast noise types: Compare homoscedastic vs heteroscedastic noise and their implications.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45536"/>
            <a:ext cx="36576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3145536"/>
            <a:ext cx="5230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Practical applications: Apply theoretical concepts to real-world datasets.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Scope &amp; Outcomes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3368" y="1499616"/>
            <a:ext cx="1207008" cy="47548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17904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OLS from MLE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90104" y="1499616"/>
            <a:ext cx="1207008" cy="47548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0104" y="1517904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Unbiasedness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1499616"/>
            <a:ext cx="1207008" cy="47548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1517904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Calibri"/>
              </a:rPr>
              <a:t>Monte Carlo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3576" y="1499616"/>
            <a:ext cx="1207008" cy="47548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3576" y="1517904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D3EE"/>
                </a:solidFill>
                <a:latin typeface="Calibri"/>
              </a:rPr>
              <a:t>Advertising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3368" y="2066544"/>
            <a:ext cx="5358384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73368" y="2157984"/>
            <a:ext cx="5358384" cy="64008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4808" y="223113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1736" y="2340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Key Simulations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73368" y="2889504"/>
            <a:ext cx="5358384" cy="64008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8" y="296265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31736" y="30723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Estimator Types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73368" y="3621024"/>
            <a:ext cx="5358384" cy="64008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4808" y="369417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31736" y="3803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Real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CIE 457  &gt;  Statistical Inference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Slide 3 of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1516"/>
            <a:ext cx="12188952" cy="316484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659282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CIE 457 — Statistical Inference and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92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👤  Dr. Mahmoud Abdelaziz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Linear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Model Specification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99616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y = Xβ + ε</a:t>
            </a:r>
          </a:p>
        </p:txBody>
      </p:sp>
      <p:pic>
        <p:nvPicPr>
          <p:cNvPr id="18" name="Picture 17" descr="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1438204" cy="47548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2505456"/>
            <a:ext cx="5358384" cy="38404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57860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y ∈ Rⁿ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578608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Observed outcomes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44368"/>
            <a:ext cx="5358384" cy="38404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175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X ∈ Rⁿˣᵖ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017520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Full-rank design matrix (p)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83280"/>
            <a:ext cx="5358384" cy="38404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45643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β ∈ Rᵖ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456432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Unknown parameters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22192"/>
            <a:ext cx="5358384" cy="38404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89534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895344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Random error — source of all randomness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370832"/>
            <a:ext cx="5358384" cy="566928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416552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Why E[y|X] = Xβ 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26864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E[ε] = 0 by assumption ⇒ E[y|X] = Xβ + 0 = Xβ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8776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Distributional Assumptions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73368" y="1499616"/>
            <a:ext cx="5358384" cy="192024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83096" y="1591056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● Homoscedastic Case</a:t>
            </a:r>
          </a:p>
        </p:txBody>
      </p:sp>
      <p:pic>
        <p:nvPicPr>
          <p:cNvPr id="40" name="Picture 39" descr="homo_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865376"/>
            <a:ext cx="1249211" cy="3840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83096" y="2276856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All observations share variance σ²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3096" y="2505456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Independent errors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83096" y="2734056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Covariance structure = σ²I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83096" y="2962656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MLE ⇒ OLS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73368" y="3529584"/>
            <a:ext cx="5358384" cy="192024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83096" y="3621024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● General (Heteroscedastic) Case</a:t>
            </a:r>
          </a:p>
        </p:txBody>
      </p:sp>
      <p:pic>
        <p:nvPicPr>
          <p:cNvPr id="47" name="Picture 46" descr="hetero_no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3895344"/>
            <a:ext cx="1160973" cy="38404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483096" y="4306824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Σ = symmetric positive definite (known/estimated)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83096" y="4535424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Diagonal Σ = different σ²ᵢ per observation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83096" y="4764024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MLE ⇒ WLS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CIE 457  &gt;  Statistical Inference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Slide 4 of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1516"/>
            <a:ext cx="12188952" cy="316484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659282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CIE 457 — Statistical Inference and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92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👤  Dr. Mahmoud Abdelaziz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Likelihood &amp; MLE Derivation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Homoscedastic Likelihood 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99616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Likelihood function: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737360"/>
            <a:ext cx="5358384" cy="65836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homo_l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792224"/>
            <a:ext cx="3427233" cy="5303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2468880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Log-likelihood function — take the natural log to simplify: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06624"/>
            <a:ext cx="5358384" cy="56692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omo_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761488"/>
            <a:ext cx="2835519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3346704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Maximize w.r.t. β — set ∂ℓ/∂β = 0: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84448"/>
            <a:ext cx="5358384" cy="457200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normal_e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30168"/>
            <a:ext cx="1094167" cy="34747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208776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OLS Estimator Derivation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1499616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Solve for β from the normal equations: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3368" y="1755648"/>
            <a:ext cx="5358384" cy="621792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1810512"/>
            <a:ext cx="5358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Find OLS estimator:</a:t>
            </a:r>
          </a:p>
        </p:txBody>
      </p:sp>
      <p:pic>
        <p:nvPicPr>
          <p:cNvPr id="33" name="Picture 32" descr="o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011680"/>
            <a:ext cx="1499993" cy="329184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6373368" y="2468880"/>
            <a:ext cx="5358384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261518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☑  Key Properties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73368" y="2926080"/>
            <a:ext cx="5358384" cy="530352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926080"/>
            <a:ext cx="54864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297180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Unbiased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3182112"/>
            <a:ext cx="51755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E[β̂] = 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3368" y="3529584"/>
            <a:ext cx="5358384" cy="530352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529584"/>
            <a:ext cx="54864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357530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Variance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3785616"/>
            <a:ext cx="51755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σ²(×ᵀ×)⁻¹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73368" y="4133088"/>
            <a:ext cx="5358384" cy="530352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73368" y="4133088"/>
            <a:ext cx="54864" cy="5303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417880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BLUE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4389120"/>
            <a:ext cx="51755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Best Linear Unbiased Estimator (Gauss-Markov)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CIE 457  &gt;  Statistical Inference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Slide 5 of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1516"/>
            <a:ext cx="12188952" cy="316484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659282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CIE 457 — Statistical Inference and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92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👤  Dr. Mahmoud Abdelaziz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Heteroscedastic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General Covariance 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99616"/>
            <a:ext cx="5358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Σ is the general covariance matrix (nxn), allowing for heteroscedasticity and correlated errors.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048256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Likelihood function: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86000"/>
            <a:ext cx="5358384" cy="530352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hetero_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40864"/>
            <a:ext cx="3322930" cy="4206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2889504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Log-likelihood function — take the natural log to simplify: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145536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Maximize w.r.t. β — set ∂ℓ/∂β = 0: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401568"/>
            <a:ext cx="5358384" cy="621792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474720"/>
            <a:ext cx="2970575" cy="47548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08776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WLS Estimator Derivation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3368" y="1499616"/>
            <a:ext cx="5358384" cy="621792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w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72768"/>
            <a:ext cx="2970575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73368" y="2212848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☑  Σ as Weight Matrix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3368" y="2523744"/>
            <a:ext cx="5358384" cy="91440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523744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2578608"/>
            <a:ext cx="51755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Weighted Estimator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2798064"/>
            <a:ext cx="51755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The matrix Σ⁻¹ acts as a weight matrix, giving more weight to observations with lower variance. This is the Weighted Least Squares estimator.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73368" y="3529584"/>
            <a:ext cx="5358384" cy="91440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3529584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3584448"/>
            <a:ext cx="51755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Reduces WLS covariance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3803904"/>
            <a:ext cx="51755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Consistent under heteroscedasticity
• Sandwich estimator: σ²(×ᵀ×)⁻¹ is biased
• True WLS uses HC standard errors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3368" y="4626864"/>
            <a:ext cx="5358384" cy="548640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83096" y="468172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Covariance:</a:t>
            </a:r>
          </a:p>
        </p:txBody>
      </p:sp>
      <p:pic>
        <p:nvPicPr>
          <p:cNvPr id="42" name="Picture 41" descr="var_w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4864608"/>
            <a:ext cx="1558251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CIE 457  &gt;  Statistical Inference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Slide 6 of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1516"/>
            <a:ext cx="12188952" cy="316484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659282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CIE 457 — Statistical Inference and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92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👤  Dr. Mahmoud Abdelaziz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Estimator as Random Variable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β vs β̂: Key Distinction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499616"/>
            <a:ext cx="2331720" cy="65836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TRUE PARAMETER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75564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1499616"/>
            <a:ext cx="2331720" cy="65836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155448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ESTIMATOR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175564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β̂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249424"/>
            <a:ext cx="5358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❓  Why is β̂ random?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542032"/>
            <a:ext cx="53583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The estimate depends on the random sample y. Each different sample gives a different estimate, creating a distribution of possible estimates around the true parameter.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00400"/>
            <a:ext cx="5358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▶  Derivation: β̂ = β + (XᵀX)⁻¹Xᵀε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493008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Start with OLS: β̂ = (XᵀX)⁻¹Xᵀy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749040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Substitute y = Xβ + ε: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05072"/>
            <a:ext cx="5358384" cy="548640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eta_r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059936"/>
            <a:ext cx="1929667" cy="420624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08776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Randomness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1499616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Why does randomness come from ε?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1755648"/>
            <a:ext cx="53583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term (XᵀX)⁻¹Xᵀε represents the "estimation error" — the difference between our estimate and the truth. X is fixed; the randomness is entirely determined by the random residuals.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73368" y="2487168"/>
            <a:ext cx="5358384" cy="530352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3096" y="2542032"/>
            <a:ext cx="5358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→  Key 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3096" y="2743200"/>
            <a:ext cx="5248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Since ε ~ N(0, σ²I), β̂ is a linear function of ε ⇒ β̂ is also Gaussian. The variance of β̂ depends on the variance of ε.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3108960"/>
            <a:ext cx="5358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Variance Decomposition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3368" y="3401568"/>
            <a:ext cx="5358384" cy="493776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83096" y="34472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Systematic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0688" y="3447288"/>
            <a:ext cx="38953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Xβ — fixed, no variance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73368" y="3968496"/>
            <a:ext cx="5358384" cy="493776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3096" y="401421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Random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90688" y="4014216"/>
            <a:ext cx="38953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(XᵀX)⁻¹Xᵀε — random, variance = σ²(XᵀX)⁻¹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CIE 457  &gt;  Statistical Inference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Slide 7 of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1516"/>
            <a:ext cx="12188952" cy="316484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659282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CIE 457 — Statistical Inference and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92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👤  Dr. Mahmoud Abdelaziz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Estimator Distribution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OLS Estimator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99616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● Homoscedastic Case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773936"/>
            <a:ext cx="5358384" cy="45720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ol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19656"/>
            <a:ext cx="2130081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2304288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β̂ = (XᵀX)⁻¹Xᵀy = (XᵀX)⁻¹Xᵀ(Xβ + 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578608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= β + (XᵀX)⁻¹Xᵀε  →  β + (affine of Gaussian)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07792"/>
            <a:ext cx="123444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0779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Unbiased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18688"/>
            <a:ext cx="123444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1868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↑ More Efficient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21024"/>
            <a:ext cx="2633472" cy="60350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675888"/>
            <a:ext cx="2496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MEAN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95344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E[β̂] = 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82112" y="3621024"/>
            <a:ext cx="2633472" cy="60350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73552" y="3675888"/>
            <a:ext cx="2496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VARIANCE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3552" y="3895344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Var(β̂) = σ²(XᵀX)⁻¹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97680"/>
            <a:ext cx="2633472" cy="60350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352544"/>
            <a:ext cx="2496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VARIANCE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572000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Var(β̂) = σ²(XᵀX)⁻¹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08776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WLS Estimator Distribution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1499616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● Heteroscedastic Case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3368" y="1773936"/>
            <a:ext cx="5358384" cy="45720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wls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19656"/>
            <a:ext cx="2276573" cy="3840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373368" y="2304288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β̂_WLS = (XᵀΣ⁻¹X)⁻¹XᵀΣ⁻¹y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2578608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= β + (XᵀΣ⁻¹X)⁻¹XᵀΣ⁻¹ε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73368" y="2907792"/>
            <a:ext cx="123444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290779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Unbiased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73368" y="3218688"/>
            <a:ext cx="123444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3368" y="321868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↑ More Efficient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73368" y="3621024"/>
            <a:ext cx="2633472" cy="60350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3675888"/>
            <a:ext cx="2496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MEAN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8" y="3895344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E[β̂] = β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3621024"/>
            <a:ext cx="2633472" cy="60350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20" y="3675888"/>
            <a:ext cx="2496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VARIANCE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20" y="3895344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Var(β̂) = (XᵀΣ⁻¹X)⁻¹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73368" y="4334256"/>
            <a:ext cx="5358384" cy="621792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3096" y="4389120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ℹ  Key Properties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83096" y="4608576"/>
            <a:ext cx="51755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The OLS estimator is unbiased and consistent. Under homoscedasticity, it is the Best Linear Unbiased Estimator (BLUE).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CIE 457  &gt;  Statistical Inference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Slide 8 of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1516"/>
            <a:ext cx="12188952" cy="316484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659282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CIE 457 — Statistical Inference and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92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👤  Dr. Mahmoud Abdelaziz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Monte Carlo Simulation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Simulation Procedure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499616"/>
            <a:ext cx="310896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49961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1499616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Fix Parameters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1755648"/>
            <a:ext cx="4956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Set n=100, 3 true coefficients, and σ²=1. Choose random X (fixed across all simulations).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76856"/>
            <a:ext cx="310896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27685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276856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Sample Noise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2532888"/>
            <a:ext cx="4956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Generate εᵐ ~ N(0,σ²I) for each trial m = 1, ..., M=5000 independently.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54096"/>
            <a:ext cx="310896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05409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054096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Compute Estimates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310128"/>
            <a:ext cx="4956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Compute β̂ = (XᵀX)⁻¹Xᵀyᵐ for each trial, recording all estimates.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31336"/>
            <a:ext cx="310896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3133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3831336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Compare Distributions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087368"/>
            <a:ext cx="4956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Compare empirical distribution to theoretical N(β, σ²(XᵀX)⁻¹).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18304"/>
            <a:ext cx="5358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Key Parameters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10912"/>
            <a:ext cx="2514600" cy="60350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06577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TRIALS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2669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5,000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5010912"/>
            <a:ext cx="2514600" cy="60350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72968" y="506577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SAMPLE SIZE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72968" y="52669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705856"/>
            <a:ext cx="2514600" cy="60350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760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BIAS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9618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≈0.00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5705856"/>
            <a:ext cx="2514600" cy="60350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72968" y="5760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R²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72968" y="59618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≈0.98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08776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Simulation Results</a:t>
            </a:r>
          </a:p>
        </p:txBody>
      </p:sp>
      <p:pic>
        <p:nvPicPr>
          <p:cNvPr id="50" name="Picture 49" descr="homo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499616"/>
            <a:ext cx="5358384" cy="1427303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373368" y="4608576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● Empirical vs Theoretical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73368" y="4882896"/>
            <a:ext cx="5358384" cy="310896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64808" y="49377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Component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93608" y="49377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True 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90888" y="49377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Emp. Mean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88168" y="49377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Diff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73368" y="5212080"/>
            <a:ext cx="5358384" cy="274320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64808" y="52486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β̂₀1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93608" y="52486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1.0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90888" y="52486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1.000673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88168" y="52486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+0.00067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73368" y="5504688"/>
            <a:ext cx="5358384" cy="274320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64808" y="55412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β̂₀2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93608" y="55412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2.0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90888" y="55412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2.001188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88168" y="55412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+0.00119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73368" y="5797296"/>
            <a:ext cx="5358384" cy="274320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64808" y="58338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β̂₀3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93608" y="58338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3.0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90888" y="58338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2.999210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88168" y="58338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−0.00079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CIE 457  &gt;  Statistical Inference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Slide 9 of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1516"/>
            <a:ext cx="12188952" cy="316484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659282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CIE 457 — Statistical Inference and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92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👤  Dr. Mahmoud Abdelaziz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Simulation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Monte Carlo Simulation Results</a:t>
            </a:r>
          </a:p>
        </p:txBody>
      </p:sp>
      <p:pic>
        <p:nvPicPr>
          <p:cNvPr id="17" name="Picture 16" descr="hetero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9616"/>
            <a:ext cx="5358384" cy="142650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208776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Statistics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3368" y="1499616"/>
            <a:ext cx="2606040" cy="96012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563EB"/>
                </a:solidFill>
                <a:latin typeface="Calibri"/>
              </a:rPr>
              <a:t>5,000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202996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Simulations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70848" y="1499616"/>
            <a:ext cx="2606040" cy="96012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0576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Calibri"/>
              </a:rPr>
              <a:t>0.95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202996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Coverage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3368" y="2551176"/>
            <a:ext cx="2606040" cy="96012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0.02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308152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Bias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0848" y="2551176"/>
            <a:ext cx="2606040" cy="96012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576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B5CF6"/>
                </a:solidFill>
                <a:latin typeface="Calibri"/>
              </a:rPr>
              <a:t>0.98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308152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3694176"/>
            <a:ext cx="5358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☑  Validation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3368" y="3986784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398678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7688" y="3986784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Empirical mean → theoretical mean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73368" y="4279392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427939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7688" y="4279392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Variance matches σ²(XᵀX)⁻¹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73368" y="4572000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4572000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7688" y="4572000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Distribution verified Gaussian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5010912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● OLS vs WLS Efficiency (Heteroscedastic)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73368" y="5285232"/>
            <a:ext cx="5358384" cy="27432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64808" y="53218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Coeff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62088" y="53218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OLS Var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96528" y="53218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WLS Var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30968" y="53218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Gain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73368" y="5577840"/>
            <a:ext cx="5358384" cy="256032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64808" y="56052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β₁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62088" y="56052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0.2290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96528" y="56052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0.0499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30968" y="56052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4.59×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73368" y="5852160"/>
            <a:ext cx="5358384" cy="256032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64808" y="587959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β₂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587959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0.1026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96528" y="587959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0.0667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30968" y="587959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1.54×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73368" y="6126480"/>
            <a:ext cx="5358384" cy="256032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64808" y="61539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β₃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62088" y="61539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0.0961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96528" y="61539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0.0555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30968" y="61539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1.73×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CIE 457  &gt;  Statistical Inference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Slide 10 of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1516"/>
            <a:ext cx="12188952" cy="316484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659282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CIE 457 — Statistical Inference and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92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👤  Dr. Mahmoud Abdelaziz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Homoscedastic vs Heteroscedastic Noise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987552"/>
            <a:ext cx="3703320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15214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116128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OLS — Homoscedastic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87368" y="987552"/>
            <a:ext cx="3703320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152144"/>
            <a:ext cx="237744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116128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Sandwich Formula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8" y="987552"/>
            <a:ext cx="3703320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152144"/>
            <a:ext cx="237744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116128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WLS —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591056"/>
            <a:ext cx="3374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Condition: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810512"/>
            <a:ext cx="3374136" cy="47548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homo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865376"/>
            <a:ext cx="1189725" cy="3657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57200" y="2359152"/>
            <a:ext cx="123444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3591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BLUE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688336"/>
            <a:ext cx="3374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Properties: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07792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2907792"/>
            <a:ext cx="3191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Most efficient linear unbiased estimator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0040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200400"/>
            <a:ext cx="3191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Standard SEs and t-tests are valid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93008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3493008"/>
            <a:ext cx="3191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Gauss-Markov Theorem applies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877056"/>
            <a:ext cx="3374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Covariance: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96512"/>
            <a:ext cx="3374136" cy="457200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var_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142232"/>
            <a:ext cx="1938151" cy="3657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251960" y="1591056"/>
            <a:ext cx="3374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Heteroscedasticity: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1810512"/>
            <a:ext cx="3374136" cy="475488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hetero_no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1865376"/>
            <a:ext cx="1105688" cy="36576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251960" y="2359152"/>
            <a:ext cx="1234440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0" y="23591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! Misspecified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2688336"/>
            <a:ext cx="3374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Robust covariance: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60" y="2907792"/>
            <a:ext cx="3374136" cy="51206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sandwi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2962656"/>
            <a:ext cx="2247834" cy="40233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251960" y="3493008"/>
            <a:ext cx="3374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Key issues: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0" y="371246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16552" y="3712464"/>
            <a:ext cx="3191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OLS still unbiased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3986784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16552" y="3986784"/>
            <a:ext cx="3191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Inflated variance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51960" y="4261104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16552" y="4261104"/>
            <a:ext cx="3191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Invalid SEs/t-tests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51960" y="453542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2" y="4535424"/>
            <a:ext cx="3191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HC sandwich corrects inference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1591056"/>
            <a:ext cx="3374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Weighted estimator: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6720" y="1810512"/>
            <a:ext cx="123444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0" y="181051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↑ More Efficient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6720" y="2139696"/>
            <a:ext cx="3374136" cy="512064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w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2194560"/>
            <a:ext cx="2513563" cy="40233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046720" y="2724912"/>
            <a:ext cx="3374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Properties: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2944368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11312" y="2944368"/>
            <a:ext cx="3191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Accounts for heteroscedasticity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325526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11312" y="3255264"/>
            <a:ext cx="3191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Weights = 1/σ²ᵢ for diagonal Σ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46720" y="356616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11312" y="3566160"/>
            <a:ext cx="3191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Optimal weighting of observations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46720" y="3877056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11312" y="3877056"/>
            <a:ext cx="3191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Covariance = (XᵀΣ⁻¹X)⁻¹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46720" y="4279392"/>
            <a:ext cx="3374136" cy="45720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var_w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584" y="4325112"/>
            <a:ext cx="2077668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CIE 457  &gt;  Statistical Inference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Slide 11 of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1516"/>
            <a:ext cx="12188952" cy="316484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659282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CIE 457 — Statistical Inference and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92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👤  Dr. Mahmoud Abdelaziz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Confidence vs Prediction Intervals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Interval Formulas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99616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Confidence Interval (CI)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773936"/>
            <a:ext cx="5358384" cy="585216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37944"/>
            <a:ext cx="2215978" cy="4572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2432304"/>
            <a:ext cx="54864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4323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CI → CI narrows with n; at n→∞ (parameter uncertainty vanishes)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07792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Prediction Interval (PI)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82112"/>
            <a:ext cx="5358384" cy="585216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46120"/>
            <a:ext cx="2836333" cy="4572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57200" y="3840480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PI never vanishes due to irreducible noise</a:t>
            </a:r>
          </a:p>
        </p:txBody>
      </p:sp>
      <p:pic>
        <p:nvPicPr>
          <p:cNvPr id="27" name="Picture 26" descr="ci_vs_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07408"/>
            <a:ext cx="5358384" cy="2647619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208776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Distinctions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3368" y="1499616"/>
            <a:ext cx="5358384" cy="274320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153619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Aspect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8" y="153619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CI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8" y="153619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73368" y="1792224"/>
            <a:ext cx="5358384" cy="32918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18470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8" y="18470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Parameter 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02368" y="18470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Future obs y*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3368" y="2139696"/>
            <a:ext cx="5358384" cy="32918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21945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Width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8" y="21945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Decreases with 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02368" y="21945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Stabilises with 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73368" y="2487168"/>
            <a:ext cx="5358384" cy="32918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254203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Asymptotic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8" y="254203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→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02368" y="254203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→ 2z·σ &gt; 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73368" y="2834640"/>
            <a:ext cx="5358384" cy="32918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19088" y="288950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82128" y="288950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Parameter inference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02368" y="288950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Forecasting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73368" y="3328416"/>
            <a:ext cx="5358384" cy="512064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3096" y="3383280"/>
            <a:ext cx="5358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ℹ  Practical Implication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83096" y="3584448"/>
            <a:ext cx="5248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Use CI for parameter uncertainty;
PI for prediction uncertainty.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73368" y="3950208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At x* = X̅ (sample mean):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73368" y="4224528"/>
            <a:ext cx="5358384" cy="54864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83096" y="4279392"/>
            <a:ext cx="5358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95% CI width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83096" y="4480560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0.0850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73368" y="4846320"/>
            <a:ext cx="5358384" cy="54864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3096" y="4901184"/>
            <a:ext cx="5358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95% PI width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3096" y="5102352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3.9208</a:t>
            </a:r>
          </a:p>
        </p:txBody>
      </p:sp>
      <p:pic>
        <p:nvPicPr>
          <p:cNvPr id="62" name="Picture 61" descr="ci_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5468112"/>
            <a:ext cx="5358384" cy="17801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CIE 457  &gt;  Statistical Inference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Slide 12 of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1516"/>
            <a:ext cx="12188952" cy="316484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659282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CIE 457 — Statistical Inference and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92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👤  Dr. Mahmoud Abdelaziz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Real Data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Advertising Dataset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499616"/>
            <a:ext cx="5358384" cy="310896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536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1536192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TV/Radio/Newspaper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847088"/>
            <a:ext cx="5358384" cy="310896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8836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OBSERVATIONS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1883664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 = 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94560"/>
            <a:ext cx="5358384" cy="310896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2311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2231136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 predictors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6334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White's Test: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20" y="26334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LM = 67.54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2633472"/>
            <a:ext cx="1234440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263347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 ≈ 0  Reject H₀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999232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OLS vs WLS Comparison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273552"/>
            <a:ext cx="5358384" cy="256032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3101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Feature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20" y="33101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OLS β̂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33101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WLS β̂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33101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OLS 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33101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WLS 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547872"/>
            <a:ext cx="5358384" cy="256032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35844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Intercept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35844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2.9389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35844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2.9544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35844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0.3119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35844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0.1211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22192"/>
            <a:ext cx="5358384" cy="256032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38587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4520" y="38587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0.0458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0360" y="38587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0.0457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6200" y="38587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0.0014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38587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0.0005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096512"/>
            <a:ext cx="5358384" cy="256032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41330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Radio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20" y="41330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0.1885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0360" y="41330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0.1909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86200" y="41330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0.0086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41330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0.0042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370832"/>
            <a:ext cx="5358384" cy="256032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44074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Newspaper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74520" y="44074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-0.001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0360" y="44074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-0.002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86200" y="44074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0.0059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0600" y="44074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0.0021</a:t>
            </a:r>
          </a:p>
        </p:txBody>
      </p:sp>
      <p:pic>
        <p:nvPicPr>
          <p:cNvPr id="61" name="Picture 60" descr="residual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73168"/>
            <a:ext cx="5358384" cy="1910492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6208776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0840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Feasible WLS Procedure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73368" y="1499616"/>
            <a:ext cx="219456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84264" y="14996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Estimate Initial OLS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84264" y="17373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Fit OLS model and obtain residuals ε̂ᵢ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73368" y="2066544"/>
            <a:ext cx="219456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84264" y="20665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Estimate Variance Function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84264" y="23042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Regress log(ε̂ᵢ²) on X to get fitted variances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73368" y="2633472"/>
            <a:ext cx="219456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84264" y="263347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Compute Weights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84264" y="28712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Weights wᵢ = 1/|ε̂ᵢ| for each observation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73368" y="3200400"/>
            <a:ext cx="219456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84264" y="320040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Re-estimate with WLS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84264" y="34381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No re-estimate with β̂_WLS using computed weights</a:t>
            </a:r>
          </a:p>
        </p:txBody>
      </p:sp>
      <p:pic>
        <p:nvPicPr>
          <p:cNvPr id="78" name="Picture 77" descr="ols_vs_wl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858768"/>
            <a:ext cx="5358384" cy="19082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CIE 457  &gt;  Statistical Inference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Slide 13 of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1516"/>
            <a:ext cx="12188952" cy="316484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659282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CIE 457 — Statistical Inference and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92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👤  Dr. Mahmoud Abdelaziz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499616"/>
            <a:ext cx="5358384" cy="73152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499616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572768"/>
            <a:ext cx="5175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ESTIMATOR PROPERTIES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1792224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Both OLS and WLS estimators are unbiased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22576"/>
            <a:ext cx="5358384" cy="73152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322576"/>
            <a:ext cx="54864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395728"/>
            <a:ext cx="5175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EFFICIENT ESTIMATION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615184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WLS is more efficient under heteroscedasticity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45536"/>
            <a:ext cx="5358384" cy="73152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145536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218688"/>
            <a:ext cx="5175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HETEROSCEDASTICITY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438144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CI → CI as n→∞ detected using White's test (LM=67.54, p≈0)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68496"/>
            <a:ext cx="5358384" cy="73152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968496"/>
            <a:ext cx="54864" cy="7315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041648"/>
            <a:ext cx="5175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INTERVAL DISTINCTION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261104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CI → 0 as n→∞; PI never vanishes due to irreducible noise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8776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Practical Implications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3368" y="1499616"/>
            <a:ext cx="5358384" cy="109728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73368" y="1499616"/>
            <a:ext cx="54864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1591056"/>
            <a:ext cx="5175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Model Selection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1847088"/>
            <a:ext cx="517550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Use WLS when heteroscedasticity is detected; standard OLS gives inflated SEs.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73368" y="2688336"/>
            <a:ext cx="5358384" cy="109728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73368" y="2688336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2779776"/>
            <a:ext cx="5175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Diagnostic Testing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3035808"/>
            <a:ext cx="517550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Always perform White's test before choosing between OLS and WLS estimators.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73368" y="3877056"/>
            <a:ext cx="5358384" cy="1097280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73368" y="3877056"/>
            <a:ext cx="54864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0528" y="3968496"/>
            <a:ext cx="5175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Interval Interpretation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4224528"/>
            <a:ext cx="517550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Distinguish between confidence intervals (parameter uncertainty) and prediction intervals for future observations.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CIE 457  &gt;  Statistical Inference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Slide 14 of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12700"/>
          </a:xfrm>
          <a:prstGeom prst="rect">
            <a:avLst/>
          </a:prstGeom>
          <a:solidFill>
            <a:srgbClr val="2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1516"/>
            <a:ext cx="12188952" cy="316484"/>
          </a:xfrm>
          <a:prstGeom prst="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659282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≈  CIE 457 — Statistical Inference and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92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👤  Dr. Mahmoud Abdelaziz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Bonus: Advanced Statistical Theory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Fisher Information &amp; CRLB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99616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Fisher Information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773936"/>
            <a:ext cx="53583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FIM quantifies the amount of information that an observable random variable carries about β.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31136"/>
            <a:ext cx="5358384" cy="51206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286000"/>
            <a:ext cx="1160585" cy="4023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2816352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Cramér-Rao Lower Bound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90672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Minimum variance for any unbiased estimator: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46704"/>
            <a:ext cx="5358384" cy="51206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r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401568"/>
            <a:ext cx="2682240" cy="40233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57200" y="3931920"/>
            <a:ext cx="5358384" cy="548640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93192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4005072"/>
            <a:ext cx="5358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Achieves Lower Bound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422452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OLS achieves the CRLB: Efficiency =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53712"/>
            <a:ext cx="5358384" cy="548640"/>
          </a:xfrm>
          <a:prstGeom prst="rect">
            <a:avLst/>
          </a:prstGeom>
          <a:solidFill>
            <a:srgbClr val="25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553712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4626864"/>
            <a:ext cx="5358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Efficiency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484632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Any other unbiased estimator has higher variance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8776" y="987552"/>
            <a:ext cx="5687568" cy="5486400"/>
          </a:xfrm>
          <a:prstGeom prst="rect">
            <a:avLst/>
          </a:prstGeom>
          <a:solidFill>
            <a:srgbClr val="172342"/>
          </a:solidFill>
          <a:ln w="10160">
            <a:solidFill>
              <a:srgbClr val="2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1152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1161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Sufficient Statistics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1499616"/>
            <a:ext cx="5358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 statistic T(y) is sufficient if it contains all the information about the parameter β.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73368" y="2048256"/>
            <a:ext cx="5358384" cy="512064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u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03120"/>
            <a:ext cx="3112577" cy="40233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373368" y="2633472"/>
            <a:ext cx="5358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Key Properties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73368" y="2907792"/>
            <a:ext cx="5358384" cy="713232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73368" y="2907792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01384" y="298094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Neyman-Fisher Factorization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01384" y="3200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p(y|β) = g(T(y),β)·h(y) ⇒ T is sufficient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73368" y="3712464"/>
            <a:ext cx="5358384" cy="713232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73368" y="3712464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4" y="378561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Data Compression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01384" y="40050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Xᵀy compresses n → p values without loss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73368" y="4517136"/>
            <a:ext cx="5358384" cy="713232"/>
          </a:xfrm>
          <a:prstGeom prst="rect">
            <a:avLst/>
          </a:prstGeom>
          <a:solidFill>
            <a:srgbClr val="1E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73368" y="4517136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01384" y="45902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UMVUE Connection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01384" y="48097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OLS = f(Xᵀy) ⇒ Rao-Blackwell guarantees minimum variance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73368" y="5449824"/>
            <a:ext cx="5358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Application: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5687568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 linear regression, (Xᵀy, yᵀy) are jointly sufficient for (β, σ²)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